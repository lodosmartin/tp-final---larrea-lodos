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8OQ8oBjPdA9u2syec53gtvxs8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15D87C-C7F0-4D4B-BDF1-D489E2F2261A}">
  <a:tblStyle styleId="{7C15D87C-C7F0-4D4B-BDF1-D489E2F226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01c37e9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e01c37e99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01c37e9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e01c37e99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2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7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7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9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6C3CF"/>
          </a:solidFill>
          <a:ln>
            <a:noFill/>
          </a:ln>
        </p:spPr>
      </p:sp>
      <p:sp>
        <p:nvSpPr>
          <p:cNvPr id="79" name="Google Shape;79;p29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1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y.gdp.pcap.pp.cd" TargetMode="External"/><Relationship Id="rId4" Type="http://schemas.openxmlformats.org/officeDocument/2006/relationships/hyperlink" Target="http://sl.uem.1524.z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>
            <p:ph type="ctrTitle"/>
          </p:nvPr>
        </p:nvSpPr>
        <p:spPr>
          <a:xfrm>
            <a:off x="990932" y="286603"/>
            <a:ext cx="6750987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18097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618097"/>
                </a:solidFill>
              </a:rPr>
              <a:t>CIENCIA DE DATOS PARA ECONOMÍA Y NEGOCIOS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044204" y="2023962"/>
            <a:ext cx="7079993" cy="3845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FINAL: PROYECTO ITENGRAL DE ANÁLISIS DE DATOS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AMPARO LARREA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MARTÍN LODOS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TEMA: VIOLENCIA Y DESARROLLO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2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492370" y="605896"/>
            <a:ext cx="3084844" cy="5646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OBJETIVOS Y ABORDAJE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742016" y="605896"/>
            <a:ext cx="6614242" cy="5646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presente trabajo tiene como objetivo analizar la relación entre la violencia y el desarrollo económico a nivel mundial. 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Utilizaremos el PBI per cápita, índice GINI y la tasa de desempleo juvenil para aproximar el nivel de desarrollo económico y la tasa de homicidios como un proxy del nivel de violencia.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Partimos de una hipótesis: un mayor PBI, menor GINI y menor desempleo juvenil afectan negativamente a la tasa de homicidio en todas las regiones del mundo.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lógica analítica es la siguiente: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exploratorio de los datos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de estadísticas descriptivas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Tratamiento de outliers y datos faltantes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impacto de las imputaciones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de inferencia estadística para probar la hipótesis 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y análisis de limitaciones del estudio.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ANÁLISIS EXPLORATORIO DE LOS DATOS 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245806" y="1828799"/>
            <a:ext cx="117003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Trabajamos con bases de datos que provienen de OWID y World Bank.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variables seleccionadas son: </a:t>
            </a:r>
            <a:endParaRPr/>
          </a:p>
          <a:p>
            <a:pPr indent="-3238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PBI per capita en USP PPP constantes de WDI: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NY.GDP.PCAP.PP.CD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⮚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desempleo de jovenes entre 15 y 24 anios de WDI: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SL.UEM.1524.ZS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⮚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 GINI de WDI: SI.POV.GINI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⮚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Homicidi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 OWID: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value_catgory_total_sex_total_age_total_unit_of_measurement_rate_100_000_population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ANÁLISIS EXPLORATORIO DE LOS DATOS 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245806" y="1828799"/>
            <a:ext cx="117003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bases con las que trabajamos empiezan a mostrar datos a partir del año 1960. Contamos con 65 años para el análisis.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todos estos años, buscamos aquellos con menor cantidad de datos faltantes en promedio para las 4 variables que estudiamos.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hecho el cálculo, seleccionamos algunos años con poco porcentaje de datos faltantes con el objetivo de aumentar el tamaño muestral y evitar el uso de series de tiempo.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los años 2010, 2015 y 2020, teniendo en cuenta la condición de distancia temporal.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base a estos años, realizamos un primer análisis de estadísticas descriptivas y luego analizamos los datos faltantes (NA) y los outliers.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ESTADÍSTICAS DESCRIPTIVAS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0" y="1875525"/>
            <a:ext cx="40554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Gini</a:t>
            </a:r>
            <a:r>
              <a:rPr lang="en-US" sz="1600"/>
              <a:t>: se observa que la distribución es </a:t>
            </a:r>
            <a:r>
              <a:rPr lang="en-US" sz="1600"/>
              <a:t>asimétrica</a:t>
            </a:r>
            <a:r>
              <a:rPr lang="en-US" sz="1600"/>
              <a:t> a la derecha, algunos casos de desigualdad extrema estiran la cola. La mayor parte de los países tienen niveles moderados de desigualdad y hay pocos casos de desigualdad muy alta. </a:t>
            </a:r>
            <a:endParaRPr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PIB</a:t>
            </a:r>
            <a:r>
              <a:rPr lang="en-US" sz="1600"/>
              <a:t>: distribución fuertemente </a:t>
            </a:r>
            <a:r>
              <a:rPr lang="en-US" sz="1600"/>
              <a:t>asimétrica</a:t>
            </a:r>
            <a:r>
              <a:rPr lang="en-US" sz="1600"/>
              <a:t> a la derecha, donde pocos </a:t>
            </a:r>
            <a:r>
              <a:rPr lang="en-US" sz="1600"/>
              <a:t>países</a:t>
            </a:r>
            <a:r>
              <a:rPr lang="en-US" sz="1600"/>
              <a:t> son muy ricos. Los </a:t>
            </a:r>
            <a:r>
              <a:rPr lang="en-US" sz="1600"/>
              <a:t>países</a:t>
            </a:r>
            <a:r>
              <a:rPr lang="en-US" sz="1600"/>
              <a:t> de ingresos bajos y medios son la mayoría. </a:t>
            </a:r>
            <a:endParaRPr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Desempleo</a:t>
            </a:r>
            <a:r>
              <a:rPr lang="en-US" sz="1600"/>
              <a:t>: se observa asimetria a la derecha, con algunos paises con desempleo juvenil muy alto. La mayoria de los paises tienen tasas moderadas. </a:t>
            </a:r>
            <a:endParaRPr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Homicidios</a:t>
            </a:r>
            <a:r>
              <a:rPr lang="en-US" sz="1600"/>
              <a:t>: distribución muy sesgada a la derecha, pocos </a:t>
            </a:r>
            <a:r>
              <a:rPr lang="en-US" sz="1600"/>
              <a:t>países</a:t>
            </a:r>
            <a:r>
              <a:rPr lang="en-US" sz="1600"/>
              <a:t> tienen niveles muy altos de violencia. Mayoría de los paises con baja violencia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5" title="03_histogram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75" y="1872800"/>
            <a:ext cx="7954028" cy="474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5" y="0"/>
            <a:ext cx="2484600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50775" y="605900"/>
            <a:ext cx="2484600" cy="56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</a:rPr>
              <a:t>DATOS FALTANTES Y OUTLIERS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2484621" y="-76050"/>
            <a:ext cx="639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2649475" y="0"/>
            <a:ext cx="9389700" cy="6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-33655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primer lugar, calculamos el porcentaje de datos faltantes para cada variable (años 2010, 2015 y 2020)</a:t>
            </a:r>
            <a:endParaRPr sz="1300"/>
          </a:p>
          <a:p>
            <a:pPr indent="-33655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Detectamos alto nivel de faltantes en el índice GINI y en la tasa de homicidio.</a:t>
            </a:r>
            <a:endParaRPr sz="1300"/>
          </a:p>
          <a:p>
            <a:pPr indent="-33655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Evaluamos si los datos identificados son faltantes completamente al azar (MCAR) y el resultado de test de hipótesis correspondiente nos indicó que los datos no son faltantes al azar.</a:t>
            </a:r>
            <a:endParaRPr sz="1300"/>
          </a:p>
          <a:p>
            <a:pPr indent="-33655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Realizamos análisis de medias para ver como impactan las distintas variables entre si (MAR). </a:t>
            </a:r>
            <a:endParaRPr sz="1300"/>
          </a:p>
          <a:p>
            <a:pPr indent="-33655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observa evidencia de MAR para la mayoría de los casos: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5143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PBI cambia drásticamente según si están o no presentes las otras variables.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5143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 no está presente si no hay PBI reportado, se mantiene relativamente estable ante la falta de tasa de homicidio, y varia bastante según si esta disponible la tasa de desempleo o no.</a:t>
            </a:r>
            <a:endParaRPr sz="1300"/>
          </a:p>
          <a:p>
            <a:pPr indent="-508000" lvl="0" marL="5143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tasa de desempleo varia únicamente según si esta reportado o no el PBI. </a:t>
            </a:r>
            <a:endParaRPr sz="1300"/>
          </a:p>
          <a:p>
            <a:pPr indent="-508000" lvl="0" marL="5143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tasa de homicidio varia ante el faltante de cualquier otra variable.</a:t>
            </a:r>
            <a:endParaRPr sz="1300"/>
          </a:p>
        </p:txBody>
      </p:sp>
      <p:graphicFrame>
        <p:nvGraphicFramePr>
          <p:cNvPr id="152" name="Google Shape;152;p6"/>
          <p:cNvGraphicFramePr/>
          <p:nvPr/>
        </p:nvGraphicFramePr>
        <p:xfrm>
          <a:off x="4739425" y="3217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{7C15D87C-C7F0-4D4B-BDF1-D489E2F2261A}</a:tableStyleId>
              </a:tblPr>
              <a:tblGrid>
                <a:gridCol w="1216325"/>
                <a:gridCol w="1216325"/>
                <a:gridCol w="1216325"/>
                <a:gridCol w="1216325"/>
              </a:tblGrid>
              <a:tr h="1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VARIABLE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GINI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DESEMPLEO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HOMICIDIO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 está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25332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19852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25035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 falta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17855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29206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14790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6"/>
          <p:cNvGraphicFramePr/>
          <p:nvPr/>
        </p:nvGraphicFramePr>
        <p:xfrm>
          <a:off x="4739425" y="56404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{7C15D87C-C7F0-4D4B-BDF1-D489E2F2261A}</a:tableStyleId>
              </a:tblPr>
              <a:tblGrid>
                <a:gridCol w="1216325"/>
                <a:gridCol w="1216325"/>
                <a:gridCol w="1216325"/>
                <a:gridCol w="1216325"/>
              </a:tblGrid>
              <a:tr h="1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VARIABLE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GINI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DESEMPLEO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PBI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 está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5.82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6.58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6.92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 falta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7.81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9.22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3.81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DATOS FALTANTES Y OUTLIERS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100"/>
              <a:t>Análisis</a:t>
            </a:r>
            <a:r>
              <a:rPr lang="en-US" sz="3100"/>
              <a:t> de presencia de MNAR</a:t>
            </a:r>
            <a:endParaRPr sz="3100"/>
          </a:p>
        </p:txBody>
      </p:sp>
      <p:sp>
        <p:nvSpPr>
          <p:cNvPr id="159" name="Google Shape;159;p7"/>
          <p:cNvSpPr txBox="1"/>
          <p:nvPr/>
        </p:nvSpPr>
        <p:spPr>
          <a:xfrm>
            <a:off x="313174" y="1891900"/>
            <a:ext cx="40857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realizó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visual a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través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elaboración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gráfico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densidad para cada variable.</a:t>
            </a:r>
            <a:endParaRPr sz="700"/>
          </a:p>
          <a:p>
            <a:pPr indent="-2413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Visualmente no hay evidencia relevante de truncamiento,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decir, no pareciera ser que dados determinados valores de la variable las observaciones desaparecen.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▪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caso tal vez mas dudoso seria la tasa de homicidios, pero tiene sentido que se acumule la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mayoría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muestra en tasas menores con outliers mas elevados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Así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refuerza la conclusión anterior: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mecanismo dominante de faltantes es MAR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(explicable por otras variables) y no un MNAR severo que invalide el estudio.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áfico, Histograma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7049" y="2091200"/>
            <a:ext cx="7543551" cy="388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>
            <p:ph type="title"/>
          </p:nvPr>
        </p:nvSpPr>
        <p:spPr>
          <a:xfrm>
            <a:off x="492370" y="605896"/>
            <a:ext cx="3084844" cy="5646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</a:rPr>
              <a:t>DATOS FALTANTES Y OUTLIERS</a:t>
            </a:r>
            <a:endParaRPr sz="3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2300">
                <a:solidFill>
                  <a:srgbClr val="FFFFFF"/>
                </a:solidFill>
              </a:rPr>
              <a:t>Tratamiento de Outliers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4449525" y="605900"/>
            <a:ext cx="7403100" cy="56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un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robusto de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outliers, optamos por una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doble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combinando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IQR y Z – score.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Encontramos que nuestra base tiene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73 outliers en total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 los cuales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únicamente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 fueron outliers extremos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detectados por ambas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mientras los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demás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fueron moderados, detectados solo por el método IQR.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todas las variables, l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homicidios es la que cuenta con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valores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atípicos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36 en total.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Tratamiento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Elegimos el método de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una variable dummy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identificarlos en la base original.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Incluimos tanto los casos extremos como los moderados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Quedan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así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determinadas 4 variables de control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las futuras regresiones, una con los outliers ciertos de cada variable.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idea central es que sus respectivos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absorban el ruido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(el error de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Optamos por este método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evitar perder información real, ya que no se trata de estimaciones sino de valores extremos reales.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0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>
            <p:ph type="title"/>
          </p:nvPr>
        </p:nvSpPr>
        <p:spPr>
          <a:xfrm>
            <a:off x="492370" y="605896"/>
            <a:ext cx="3084844" cy="5646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</a:rPr>
              <a:t>DATOS FALTANTES Y OUTLIERS</a:t>
            </a:r>
            <a:endParaRPr sz="3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2300">
                <a:solidFill>
                  <a:srgbClr val="FFFFFF"/>
                </a:solidFill>
              </a:rPr>
              <a:t>Tratamiento de faltantes - MICE</a:t>
            </a:r>
            <a:endParaRPr sz="3500"/>
          </a:p>
        </p:txBody>
      </p:sp>
      <p:sp>
        <p:nvSpPr>
          <p:cNvPr id="183" name="Google Shape;183;p1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4287800" y="221125"/>
            <a:ext cx="7737900" cy="6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Analizando la muestra nos encontramos con u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gran volumen de faltantes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7,6% para PBI, 13,5% para Desempleo Joven, 43,9% para tasa de homicidio y 63,1% para Gini.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 que no se pueden hacer una inferencia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estadística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relevante con tal cantidad de huecos en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optó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implementar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metodología MICE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rellena los faltantes a partir de las otras variables -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válido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ya que se trata de datos MAR -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corrigiendo sesgos con valores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probabilísticamente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realistas en lugar de imputarlos al azar.</a:t>
            </a:r>
            <a:endParaRPr b="1"/>
          </a:p>
          <a:p>
            <a:pPr indent="-28575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utilizar las variables mencionadas,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decidimos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utilizar la variable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 como un factor para que la imputación de los faltantes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relacione con los valores cercanos de países vecinos.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Usamos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Mean Matching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que los valores imputados sean realistas. En este procedimiento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generamos 5 escenarios imputados,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aplicamos método robusto para respetar la distribución original 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iteramos para estabilizar las predicciones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Finalmente, reconstruimos la base final con los datos rellenos.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01c37e99_2_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ae01c37e99_2_4"/>
          <p:cNvSpPr/>
          <p:nvPr/>
        </p:nvSpPr>
        <p:spPr>
          <a:xfrm>
            <a:off x="15" y="6334316"/>
            <a:ext cx="121920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3ae01c37e99_2_4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g3ae01c37e99_2_4"/>
          <p:cNvSpPr/>
          <p:nvPr/>
        </p:nvSpPr>
        <p:spPr>
          <a:xfrm>
            <a:off x="0" y="0"/>
            <a:ext cx="121863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e01c37e99_2_4"/>
          <p:cNvSpPr/>
          <p:nvPr/>
        </p:nvSpPr>
        <p:spPr>
          <a:xfrm>
            <a:off x="23" y="0"/>
            <a:ext cx="2928300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ae01c37e99_2_4"/>
          <p:cNvSpPr txBox="1"/>
          <p:nvPr>
            <p:ph type="title"/>
          </p:nvPr>
        </p:nvSpPr>
        <p:spPr>
          <a:xfrm>
            <a:off x="25" y="605850"/>
            <a:ext cx="2864400" cy="56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</a:rPr>
              <a:t>EVALUACIÓN</a:t>
            </a:r>
            <a:r>
              <a:rPr lang="en-US" sz="3600">
                <a:solidFill>
                  <a:srgbClr val="FFFFFF"/>
                </a:solidFill>
              </a:rPr>
              <a:t> DE IMPACTO</a:t>
            </a:r>
            <a:endParaRPr sz="3500"/>
          </a:p>
        </p:txBody>
      </p:sp>
      <p:sp>
        <p:nvSpPr>
          <p:cNvPr id="195" name="Google Shape;195;g3ae01c37e99_2_4"/>
          <p:cNvSpPr/>
          <p:nvPr/>
        </p:nvSpPr>
        <p:spPr>
          <a:xfrm>
            <a:off x="2864421" y="0"/>
            <a:ext cx="639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áfico, Gráfico de líneas&#10;&#10;El contenido generado por IA puede ser incorrecto." id="196" name="Google Shape;196;g3ae01c37e99_2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0600" y="2444810"/>
            <a:ext cx="8602677" cy="413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ae01c37e99_2_4"/>
          <p:cNvSpPr txBox="1"/>
          <p:nvPr/>
        </p:nvSpPr>
        <p:spPr>
          <a:xfrm>
            <a:off x="3100200" y="202825"/>
            <a:ext cx="90861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2857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MICE: 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PBI y Desempleo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en estas variables el mecanismo de faltantes es aleatorio o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condicionado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variables que n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cambiaron la distribución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la mayoría de datos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faltantes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refieren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países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desiguales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imputación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corrigió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sesgo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Homicidios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datos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faltantes provienen de países con baja violencia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valores similares a la moda.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01c37e99_2_18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ae01c37e99_2_18"/>
          <p:cNvSpPr/>
          <p:nvPr/>
        </p:nvSpPr>
        <p:spPr>
          <a:xfrm>
            <a:off x="15" y="6334316"/>
            <a:ext cx="121920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ae01c37e99_2_18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g3ae01c37e99_2_18"/>
          <p:cNvSpPr/>
          <p:nvPr/>
        </p:nvSpPr>
        <p:spPr>
          <a:xfrm>
            <a:off x="0" y="0"/>
            <a:ext cx="121863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ae01c37e99_2_18"/>
          <p:cNvSpPr/>
          <p:nvPr/>
        </p:nvSpPr>
        <p:spPr>
          <a:xfrm>
            <a:off x="23" y="0"/>
            <a:ext cx="2928300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ae01c37e99_2_18"/>
          <p:cNvSpPr txBox="1"/>
          <p:nvPr>
            <p:ph type="title"/>
          </p:nvPr>
        </p:nvSpPr>
        <p:spPr>
          <a:xfrm>
            <a:off x="25" y="605850"/>
            <a:ext cx="2864400" cy="56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</a:rPr>
              <a:t>EVALUACIÓN DE IMPACTO</a:t>
            </a:r>
            <a:endParaRPr sz="3500"/>
          </a:p>
        </p:txBody>
      </p:sp>
      <p:sp>
        <p:nvSpPr>
          <p:cNvPr id="208" name="Google Shape;208;g3ae01c37e99_2_18"/>
          <p:cNvSpPr/>
          <p:nvPr/>
        </p:nvSpPr>
        <p:spPr>
          <a:xfrm>
            <a:off x="2864421" y="0"/>
            <a:ext cx="639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ae01c37e99_2_18"/>
          <p:cNvSpPr txBox="1"/>
          <p:nvPr/>
        </p:nvSpPr>
        <p:spPr>
          <a:xfrm>
            <a:off x="3100200" y="202825"/>
            <a:ext cx="90861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2857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MICE: 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PBI y Desempleo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las medias y valores centrales de la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mantuvieron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idénticos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original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como era de esperarse,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tanto la media como los valores centrales ahora son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elevados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esto se debe a la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corrección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sesgo.</a:t>
            </a:r>
            <a:endParaRPr sz="1300">
              <a:solidFill>
                <a:schemeClr val="dk1"/>
              </a:solidFill>
            </a:endParaRPr>
          </a:p>
          <a:p>
            <a:pPr indent="-33655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Homicidios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“caja” ahora es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pequeña, con una media similar.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Esperable tras una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imputación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valores similares a la moda.</a:t>
            </a:r>
            <a:endParaRPr sz="1300"/>
          </a:p>
        </p:txBody>
      </p:sp>
      <p:pic>
        <p:nvPicPr>
          <p:cNvPr descr="Gráfico, Gráfico de cajas y bigotes&#10;&#10;El contenido generado por IA puede ser incorrecto." id="210" name="Google Shape;210;g3ae01c37e99_2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490" y="2460921"/>
            <a:ext cx="8919524" cy="4186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3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 txBox="1"/>
          <p:nvPr>
            <p:ph type="title"/>
          </p:nvPr>
        </p:nvSpPr>
        <p:spPr>
          <a:xfrm>
            <a:off x="496957" y="-245772"/>
            <a:ext cx="67509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18097"/>
              </a:buClr>
              <a:buSzPts val="4800"/>
              <a:buFont typeface="Calibri"/>
              <a:buNone/>
            </a:pPr>
            <a:r>
              <a:rPr lang="en-US">
                <a:solidFill>
                  <a:srgbClr val="618097"/>
                </a:solidFill>
              </a:rPr>
              <a:t>INFERENCIA ESTADÍSTICA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249907" y="1415661"/>
            <a:ext cx="7245000" cy="4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98481" lvl="0" marL="28575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Calibri"/>
              <a:buChar char="•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realizar el análisis de regresión múltiple, evaluamos multicolinealidad, heterocedasticidad, normalidad y autocorrelación con los métodos correspondientes. </a:t>
            </a:r>
            <a:endParaRPr sz="1495"/>
          </a:p>
          <a:p>
            <a:pPr indent="-298481" lvl="0" marL="28575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Calibri"/>
              <a:buChar char="•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comprobó que no existe multicolinealidad pero el resto de los tests fallaron. </a:t>
            </a:r>
            <a:endParaRPr sz="1495"/>
          </a:p>
          <a:p>
            <a:pPr indent="-298481" lvl="0" marL="28575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Calibri"/>
              <a:buChar char="•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a este problema es aplicar una transformación logarítmica. Este procedimiento resuelve los problemas de varianza y normalidad. </a:t>
            </a:r>
            <a:endParaRPr sz="1495"/>
          </a:p>
          <a:p>
            <a:pPr indent="-298481" lvl="0" marL="28575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Calibri"/>
              <a:buChar char="•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de la transformación, testeamos nuevamente los supuestos. </a:t>
            </a:r>
            <a:endParaRPr sz="1495"/>
          </a:p>
          <a:p>
            <a:pPr indent="-174180" lvl="0" marL="28575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758"/>
              <a:buFont typeface="Calibri"/>
              <a:buNone/>
            </a:pPr>
            <a:r>
              <a:t/>
            </a:r>
            <a:endParaRPr sz="19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31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Noto Sans Symbols"/>
              <a:buChar char="✔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Normalidad: en el modelo original el </a:t>
            </a: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estadístico</a:t>
            </a: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daba 0.650 y en el modelo Log-Lin 0.985. Mejora, pasamos de residuos deformes a una “campana” casi perfecta</a:t>
            </a:r>
            <a:endParaRPr sz="1495"/>
          </a:p>
          <a:p>
            <a:pPr indent="-355631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Noto Sans Symbols"/>
              <a:buChar char="✔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Heterocedasticidad: Se da una reducción masiva, el </a:t>
            </a: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estadístico</a:t>
            </a: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era 76.21 y en el modelo final es 29.41. La varianza del error es mucho más estable. </a:t>
            </a:r>
            <a:endParaRPr sz="1495"/>
          </a:p>
          <a:p>
            <a:pPr indent="-355631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Noto Sans Symbols"/>
              <a:buChar char="✔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Autocorrelación: Se da una mejora leve. 1.69 &gt; 1.59. Se reduce el sesgo temporal.</a:t>
            </a:r>
            <a:endParaRPr sz="1495"/>
          </a:p>
          <a:p>
            <a:pPr indent="0" lvl="0" marL="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81" lvl="0" marL="28575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8"/>
              <a:buFont typeface="Calibri"/>
              <a:buChar char="•"/>
            </a:pPr>
            <a:r>
              <a:rPr lang="en-US" sz="19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resultados nos indican que el modelo logarítmico es el mejor para realizar la regresión múltiple (modelo Log – Lin).</a:t>
            </a:r>
            <a:endParaRPr sz="1495"/>
          </a:p>
          <a:p>
            <a:pPr indent="-203517" lvl="0" marL="28575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95"/>
              <a:buFont typeface="Calibri"/>
              <a:buNone/>
            </a:pPr>
            <a:r>
              <a:t/>
            </a:r>
            <a:endParaRPr sz="1495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4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>
            <p:ph type="title"/>
          </p:nvPr>
        </p:nvSpPr>
        <p:spPr>
          <a:xfrm>
            <a:off x="787982" y="-409022"/>
            <a:ext cx="67509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18097"/>
              </a:buClr>
              <a:buSzPts val="4800"/>
              <a:buFont typeface="Calibri"/>
              <a:buNone/>
            </a:pPr>
            <a:r>
              <a:rPr lang="en-US">
                <a:solidFill>
                  <a:srgbClr val="618097"/>
                </a:solidFill>
              </a:rPr>
              <a:t>REGRESIÓN MÚLTIPLE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382068" y="1041784"/>
            <a:ext cx="7156800" cy="4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7940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Queremos comprobar la hipótesis de que un mayor PBI, menor GINI y menor desempleo baja la tasa de homicidio.</a:t>
            </a:r>
            <a:endParaRPr sz="2000"/>
          </a:p>
          <a:p>
            <a:pPr indent="-27940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Resultados: </a:t>
            </a:r>
            <a:endParaRPr sz="2000"/>
          </a:p>
          <a:p>
            <a:pPr indent="-27940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PBI: el p-value es 0.0035. Dado a que es menor a 0.1 el efecto es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estadísticamente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significativo. Al ser modelo log-lin, interpretamos que cada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unidad en el PIB per cápita está asociado con una reducción de 0.0014% en la variable dependiente</a:t>
            </a:r>
            <a:endParaRPr sz="2000"/>
          </a:p>
          <a:p>
            <a:pPr indent="-27940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GINI: el p-value es 0.8481, no es significativo estadisticamente. No se puede afirmar que el índice de Gini tenga un impacto real sobre la variable dependiente en este modelo.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857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Desempleo: el p-value es 0.9256, no es significativo. No se puede afirmar que el desempleo tenga un impacto real sobre la variable dependiente en este modelo.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siguiente gráfico se puede apreciar la relación significativa entre el PBI y la tasa de homicidio. Se puede ver que a mayor riqueza, menos crimen. Es importante aclarar que para el gráfico usamos solo uno de los escenarios generados con el MICE.</a:t>
            </a:r>
            <a:endParaRPr sz="2000"/>
          </a:p>
        </p:txBody>
      </p:sp>
      <p:sp>
        <p:nvSpPr>
          <p:cNvPr id="233" name="Google Shape;233;p14"/>
          <p:cNvSpPr/>
          <p:nvPr/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rgbClr val="6180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, Gráfico de dispersión&#10;&#10;El contenido generado por IA puede ser incorrecto." id="239" name="Google Shape;2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48" y="89452"/>
            <a:ext cx="11907078" cy="6281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TEST DE WALD SOBRE REGIÓN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268357" y="1868557"/>
            <a:ext cx="115095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objetivo de profundizar el análisis, realizamos un Test de Wald para ver que tanto impacta la region sobre la variable dependiente - la tasa de homicidios, proxy de violencia.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Comparamos dos modelos: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1) Modelo completo que explica la violencia usando la región.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2) Modelo nulo en donde la región no importa.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Resultados: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Estadístico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empírico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31,629 &gt; 2,87 = Estadistico critico. El valor se encuentra muy por encima del requerido para validar la relevancia de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P-value: 0.0000000218 &lt; 0.05. Podemos afirmar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prácticamente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certeza que en nuestra base generada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factor determinante en la violencia.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resultado confirma lo que valida lo que vimos en la regresión, se confirma que existen diferencias estructurales estadísticamente significativas en las tasas de homicidio entre los distintos continentes.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/>
          <p:nvPr/>
        </p:nvSpPr>
        <p:spPr>
          <a:xfrm>
            <a:off x="363800" y="127825"/>
            <a:ext cx="11640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COMPARACIÓN ENTRE REGIONES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Estar en el continente americano es casi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sinónimo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tener tasas de violencia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elevadas</a:t>
            </a:r>
            <a:endParaRPr sz="1000"/>
          </a:p>
        </p:txBody>
      </p:sp>
      <p:pic>
        <p:nvPicPr>
          <p:cNvPr descr="Gráfico, Gráfico de cajas y bigotes&#10;&#10;El contenido generado por IA puede ser incorrecto." id="251" name="Google Shape;2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623" y="1124951"/>
            <a:ext cx="9579801" cy="485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CONCLUSIONES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34297" y="1917290"/>
            <a:ext cx="11493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resultados de la regresion deslegitiman nuestra hipotesis - mientras que una mayor desigualdad no es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estadísticamente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relevante para determinar niveles de violencia, si lo son el PBI y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redomina el efecto de las condiciones estructurales de los continentes.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Test de Wald nos confirmó que existen diferencias estadísticamente significativas en las tasas de homicidio entre los distintos continentes. La geografía es  un determinante clave de la seguridad.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cuanto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las limitaciones para realizar el estudio, encontramos una falta importante de datos en las bases de GINI, desempleo y tasas de homicidio.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probable que al imputar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del MICE sin remover los outliers de violencia (como El Salvador), el estudio haya quedado mas sesgado por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 que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debería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47650" lvl="0" marL="285750" marR="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variable proxy de violencia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mostró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severas limitaciones para su utilizacion como variable dependiente.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FUTURAS LÍNEAS DE INVESTIGACIÓN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294968" y="1995948"/>
            <a:ext cx="1147424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Teniendo en cuenta que la región es una variable de mucho impacta en la violencia, se podría realizar un análisis en profundidad sobre una de las regiones y estudiar como impactan el GINI y el desempleo en la tasa de homicidio. Al analizar solo una región, podríamos ver si las variables afectan o no la tasa.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 profundización que se podría elaborar es eligiendo un grupo de países y ver la evolución temporal de las variables. Podríamos estudiar casos en donde cambia las variables de desarrollo (PBI, GINI, desempleo) y ver si esas alteraciones modifican de alguna manera la tasa de homicidio. Se podría tener una visualización de como se mueven juntas las 4 variables y sacar alguna interpretación relevante.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Retrospección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2025-12-03T22:08:09Z</dcterms:created>
  <dc:creator>Martin Lodos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0x0101000802F3728DD8A24FB10EB8143E4A80AE</vt:lpwstr>
  </property>
</Properties>
</file>